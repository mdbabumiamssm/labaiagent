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AF2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AF2FF"/>
                </a:solidFill>
                <a:latin typeface="Arial"/>
              </a:rPr>
              <a:t>Test suite growth by release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2EE6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AF2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v1.2.0</c:v>
                  </c:pt>
                  <c:pt idx="1">
                    <c:v>v1.3.0</c:v>
                  </c:pt>
                  <c:pt idx="2">
                    <c:v>v1.4.0</c:v>
                  </c:pt>
                  <c:pt idx="3">
                    <c:v>v1.4.1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181</c:v>
                </c:pt>
                <c:pt idx="1">
                  <c:v>196</c:v>
                </c:pt>
                <c:pt idx="2">
                  <c:v>218</c:v>
                </c:pt>
                <c:pt idx="3">
                  <c:v>232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AF2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A6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  <c:min val="0"/>
        </c:scaling>
        <c:delete val="0"/>
        <c:axPos val="l"/>
        <c:majorGridlines>
          <c:spPr>
            <a:ln w="6350" cap="flat">
              <a:solidFill>
                <a:srgbClr val="2A3C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6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43A"/>
        </a:solidFill>
        <a:ln>
          <a:noFill/>
        </a:ln>
        <a:effectLst/>
      </c:spPr>
    </c:plotArea>
    <c:plotVisOnly val="1"/>
    <c:dispBlanksAs val="span"/>
  </c:chart>
  <c:spPr>
    <a:solidFill>
      <a:srgbClr val="1624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Positioning: LabAIAgent is the safety and audit layer that lets ANY AI agent operate real lab instruments. Open with the one-liner, then the chips: open source, evidence-heavy, framework-neutral.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is a failure mode we designed against. Emphasize non-idempotency: retry logic that is fine in software is catastrophic on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bottom. The load-bearing claim: there is exactly ONE policy point. Two ways to actuate hardware means one of them is unaudited.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anti-pattern slide: 'one tool per capability' scales the tool list with the lab and breaks every prompt when hardware changes. Our surface is a grammar, not a catalog.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cue: labaiagent serve --readonly with Claude Desktop takes under a minute. Stress the rollout ladder: readonly, then dry-run, then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 for robotics engineers: on the Opentrons driver, OUR safety engine gates each individual aspirate over the live command API — not a two-hour protocol blob. And errors after actuation are never retryable (review finding 4.2).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security engineers: constant-time key compare, lockout BEFORE comparison (no oracle), X-Forwarded-For deliberately untrusted, chunked TE rejected against request smuggling. THREAT_MODEL.md states residual risks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ALCOA+ is the data-integrity vocabulary QA people use. The run record is what a methods section cites: protocol as executed, driver versions, actor, audit slice — one self-contained, verifiable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Narrate as the overnight story: power loss at 2am. On restart the server prints exactly where it stopped; resume skips completed steps; a physical fault quarantines the instrument with a diagnosis instead of a stack trace. Demo: examples/06 and 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one self-contained HTML page served at / — no build step, renders on an air-gapped network, and it has NO privileged path: it calls the same authenticated tool endpoints agents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wins trust by NOT overclaiming. Part 11 compliance is a property of a validated deployment; we make every clause traceable to a control and hand over the IQ/OQ/PQ to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shows test growth per release. Round 4 was an independent adversarial review of our own new code that found 12 real defects (2 critical) — and we published them. That transparency IS the sales pitch to engineers.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TCO slide. The whole driver is ~25 lines; the CLI scaffolds it with tests, and `labaiagent verify` runs a strict conformance suite before it ever meets an agent. Instruments with NO API integrate via the watched-folder transport.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honesty + concrete ask. The pilot produces three artifacts at once: their compliance evidence, our validation dataset, and a co-authorable methods paper. Recommended close: pick two instruments and a real assay.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LabAIAgent · technical briefing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pPr indent="0" marL="0">
              <a:buNone/>
            </a:pPr>
            <a:r>
              <a:rPr lang="en-US" sz="6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AIAgent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841248" y="2606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universal AI-agent gateway for laboratory instruments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31546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Vendor-neutral control  ·  six fail-closed safety layers  ·  a tamper-evident audit trail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instrument at a time, for every agent runtime you already use.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41248" y="41605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414680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v1.4.1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20240" y="41605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20240" y="4146804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Apache-2.0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19272" y="41605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19272" y="4146804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 tests · 4 review rounds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86984" y="41605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86984" y="4146804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fixed tools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260336" y="416052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60336" y="4146804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OpenAI · REST · 5 frameworks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168128" y="416052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168128" y="4146804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stdlib-only core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" y="5394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RS-232   ·   TCP   ·   HTTP/REST   ·   watched-folder exports   ·   Windows COM   ·   SiLA 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" y="5742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instrument can talk at all, an agent can drive it — safely, and on the record.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0607040" y="1600200"/>
            <a:ext cx="822960" cy="8229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8091" y="1781251"/>
            <a:ext cx="460858" cy="4608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agent-driven labs fail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engineering facts. Ignore any one of them and the failure mode is predictable.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LabAIAgent · technical briefing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371600"/>
            <a:ext cx="5486400" cy="2057400"/>
          </a:xfrm>
          <a:prstGeom prst="roundRect">
            <a:avLst>
              <a:gd name="adj" fmla="val 3111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5528" y="160020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0078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35608" y="15727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actions are not idempotent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1435608" y="2121408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call can be retried; an aspirate cannot be un-aspirated. The cost of a false negative in a safety check is unbounded — so every check must fail closed.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327648" y="1371600"/>
            <a:ext cx="5486400" cy="2057400"/>
          </a:xfrm>
          <a:prstGeom prst="roundRect">
            <a:avLst>
              <a:gd name="adj" fmla="val 3111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556248" y="1600200"/>
            <a:ext cx="457200" cy="45720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70078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96328" y="15727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Instruments speak six protocols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7196328" y="2121408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2019 plate reader exports CSV to a folder. A 2010 pump is RS-232. A vendor SDK is Windows COM. REST-only integration covers the minority of a real lab.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66928" y="3703320"/>
            <a:ext cx="5486400" cy="2057400"/>
          </a:xfrm>
          <a:prstGeom prst="roundRect">
            <a:avLst>
              <a:gd name="adj" fmla="val 3111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95528" y="3931920"/>
            <a:ext cx="457200" cy="45720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032504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35608" y="39044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speak many protocols too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1435608" y="4453128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wants MCP, OpenAI wants a functions array, LangGraph wants BaseTools, your scheduler wants REST. A layer welded to one runtime is obsolete next release.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327648" y="3703320"/>
            <a:ext cx="5486400" cy="2057400"/>
          </a:xfrm>
          <a:prstGeom prst="roundRect">
            <a:avLst>
              <a:gd name="adj" fmla="val 3111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556248" y="3931920"/>
            <a:ext cx="457200" cy="45720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32504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96328" y="39044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N+1 must not touch 1..N</a:t>
            </a:r>
            <a:endParaRPr lang="en-US" sz="1550" dirty="0"/>
          </a:p>
        </p:txBody>
      </p:sp>
      <p:sp>
        <p:nvSpPr>
          <p:cNvPr id="26" name="Text 19"/>
          <p:cNvSpPr txBox="1"/>
          <p:nvPr/>
        </p:nvSpPr>
        <p:spPr>
          <a:xfrm>
            <a:off x="7196328" y="4453128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adding an instrument (or an agent framework) means editing what already works, integration cost grows superlinearly and the project stalls.</a:t>
            </a:r>
            <a:endParaRPr lang="en-US" sz="1150" dirty="0"/>
          </a:p>
        </p:txBody>
      </p:sp>
      <p:sp>
        <p:nvSpPr>
          <p:cNvPr id="27" name="Text 20"/>
          <p:cNvSpPr txBox="1"/>
          <p:nvPr/>
        </p:nvSpPr>
        <p:spPr>
          <a:xfrm>
            <a:off x="566928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LabAIAgent is organised around these four constraints — not around any single vendor, instrument, or model.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gateway. One invocation path. No exceptions.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runtime renders the same 20 tools; nothing reaches hardware except through LabSession.call.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LabAIAgent · technical briefing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22960" y="137160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357884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MCP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103120" y="137160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03120" y="1357884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· Gemini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474720" y="13716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74720" y="1357884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· LlamaIndex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303520" y="13716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03520" y="1357884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· AutoGen · smol.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132320" y="137160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32320" y="1357884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/ OpenAPI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17720" y="1737360"/>
            <a:ext cx="0" cy="219456"/>
          </a:xfrm>
          <a:prstGeom prst="line">
            <a:avLst/>
          </a:prstGeom>
          <a:noFill/>
          <a:ln w="25400">
            <a:solidFill>
              <a:srgbClr val="2EE6A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22960" y="1975104"/>
            <a:ext cx="7589520" cy="713232"/>
          </a:xfrm>
          <a:prstGeom prst="roundRect">
            <a:avLst>
              <a:gd name="adj" fmla="val 8974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51560" y="1975104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GATEWAY   </a:t>
            </a:r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fixed tools, rendered mechanically per runtime · API keys · roles · per-actor ceilings · async jobs · SSE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617720" y="2688336"/>
            <a:ext cx="0" cy="201168"/>
          </a:xfrm>
          <a:prstGeom prst="line">
            <a:avLst/>
          </a:prstGeom>
          <a:noFill/>
          <a:ln w="25400">
            <a:solidFill>
              <a:srgbClr val="2EE6A8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22960" y="2907792"/>
            <a:ext cx="7589520" cy="658368"/>
          </a:xfrm>
          <a:prstGeom prst="roundRect">
            <a:avLst>
              <a:gd name="adj" fmla="val 9722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51560" y="290779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LabSession.call — </a:t>
            </a:r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invocation path: safety evaluation → per-device lock → execute → audit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617720" y="3566160"/>
            <a:ext cx="0" cy="201168"/>
          </a:xfrm>
          <a:prstGeom prst="line">
            <a:avLst/>
          </a:prstGeom>
          <a:noFill/>
          <a:ln w="25400">
            <a:solidFill>
              <a:srgbClr val="2EE6A8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22960" y="3785616"/>
            <a:ext cx="2420112" cy="685800"/>
          </a:xfrm>
          <a:prstGeom prst="roundRect">
            <a:avLst>
              <a:gd name="adj" fmla="val 9333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0120" y="3785616"/>
            <a:ext cx="2145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engine
</a:t>
            </a:r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layers, fail-closed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352800" y="3785616"/>
            <a:ext cx="2420112" cy="685800"/>
          </a:xfrm>
          <a:prstGeom prst="roundRect">
            <a:avLst>
              <a:gd name="adj" fmla="val 9333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489960" y="3785616"/>
            <a:ext cx="2145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
</a:t>
            </a:r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per-device locking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882640" y="3785616"/>
            <a:ext cx="2420112" cy="685800"/>
          </a:xfrm>
          <a:prstGeom prst="roundRect">
            <a:avLst>
              <a:gd name="adj" fmla="val 9333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19800" y="3785616"/>
            <a:ext cx="2145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
</a:t>
            </a:r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 hash-chained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617720" y="4471416"/>
            <a:ext cx="0" cy="201168"/>
          </a:xfrm>
          <a:prstGeom prst="line">
            <a:avLst/>
          </a:prstGeom>
          <a:noFill/>
          <a:ln w="25400">
            <a:solidFill>
              <a:srgbClr val="2EE6A8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22960" y="4690872"/>
            <a:ext cx="7589520" cy="658368"/>
          </a:xfrm>
          <a:prstGeom prst="roundRect">
            <a:avLst>
              <a:gd name="adj" fmla="val 9722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51560" y="469087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contract — </a:t>
            </a:r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@read / @write / @procedure declared once → validation, manifest, agent reference, every schema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1051560" y="559612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51560" y="5582412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RS-232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2276856" y="559612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276856" y="5582412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502152" y="559612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502152" y="5582412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727448" y="559612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727448" y="5582412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filewatch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952744" y="559612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52744" y="5582412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7178040" y="559612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178040" y="5582412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SiLA 2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8732520" y="1371600"/>
            <a:ext cx="2880360" cy="4572000"/>
          </a:xfrm>
          <a:prstGeom prst="roundRect">
            <a:avLst>
              <a:gd name="adj" fmla="val 2222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961120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shape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8961120" y="1874520"/>
            <a:ext cx="248716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policy point. Ceilings, limits, interlocks, approvals and audit apply to every caller identically — agent, script, or CLI.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instrument N+1 changes no tool schema, in any framework, ever.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agent framework N+1 is a ~100-line shim into the same dispatch.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is stdlib + PyYAML: installs on locked-down instrument PCs with no build toolchain.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tools. Fixed. For a lab of any size.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choosing among 400 generated tools chooses badly; one given a stable grammar navigates any lab with the same competence.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LabAIAgent · technical briefing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55448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8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788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tools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per-instrument schemas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36576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is data, not schema: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list_devices → describe_device returns the instrument's limits, units and operating notes as content the model reads — so hardware changes never invalidate an integration.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5440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adapter — MCP, REST, OpenAI, LangChain… — renders THIS registry and calls THIS dispatch.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703320" y="1417320"/>
            <a:ext cx="2560320" cy="2084832"/>
          </a:xfrm>
          <a:prstGeom prst="roundRect">
            <a:avLst>
              <a:gd name="adj" fmla="val 307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67912" y="152704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867912" y="1874520"/>
            <a:ext cx="223113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list_devices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describe_device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lab_reference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1417320"/>
            <a:ext cx="2560320" cy="2084832"/>
          </a:xfrm>
          <a:prstGeom prst="roundRect">
            <a:avLst>
              <a:gd name="adj" fmla="val 307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65392" y="152704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565392" y="1874520"/>
            <a:ext cx="223113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read_state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write_state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run_procedure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run_protocol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098280" y="1417320"/>
            <a:ext cx="2560320" cy="2084832"/>
          </a:xfrm>
          <a:prstGeom prst="roundRect">
            <a:avLst>
              <a:gd name="adj" fmla="val 307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262872" y="152704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262872" y="1874520"/>
            <a:ext cx="223113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get_job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list_jobs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cancel_job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703320" y="3776472"/>
            <a:ext cx="2560320" cy="2084832"/>
          </a:xfrm>
          <a:prstGeom prst="roundRect">
            <a:avLst>
              <a:gd name="adj" fmla="val 307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67912" y="388620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governance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867912" y="4233672"/>
            <a:ext cx="223113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emergency_stop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request_approval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get_audit_log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0" y="3776472"/>
            <a:ext cx="2560320" cy="2084832"/>
          </a:xfrm>
          <a:prstGeom prst="roundRect">
            <a:avLst>
              <a:gd name="adj" fmla="val 307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65392" y="388620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(PubMed-only)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565392" y="4233672"/>
            <a:ext cx="223113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search_literature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list_protocol_templates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instantiate_protocol_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098280" y="3776472"/>
            <a:ext cx="2560320" cy="2084832"/>
          </a:xfrm>
          <a:prstGeom prst="roundRect">
            <a:avLst>
              <a:gd name="adj" fmla="val 307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62872" y="388620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 &amp; evidence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9262872" y="4233672"/>
            <a:ext cx="223113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lab_tasks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run_records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submit_feedback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your agents where they already are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SDK lock-in: native MCP, native tool schemas, framework shims, or plain HTTP — all onto the same dispatch and safety engine.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LabAIAgent · technical briefing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41732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15087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
</a:t>
            </a:r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stdio + MCP over HTTP; resources for lab context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1688" y="141732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44568" y="15087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Gemini
</a:t>
            </a:r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tool-calling schema exporters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156448" y="141732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39328" y="15087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/ LlamaIndex
</a:t>
            </a:r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BaseTool / FunctionTool shims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2670048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" y="276148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/ AutoGen / smolagents
</a:t>
            </a:r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first-class adapters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61688" y="2670048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44568" y="276148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with HTTP
</a:t>
            </a:r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+ OpenAPI 3.1 + SSE events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156448" y="2670048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39328" y="276148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
</a:t>
            </a:r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LabClient SDK / LabSession embedding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3977640"/>
            <a:ext cx="6035040" cy="2286000"/>
          </a:xfrm>
          <a:prstGeom prst="roundRect">
            <a:avLst>
              <a:gd name="adj" fmla="val 2800"/>
            </a:avLst>
          </a:prstGeom>
          <a:solidFill>
            <a:srgbClr val="0B1420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4050792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— the recommended ladder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4306824"/>
            <a:ext cx="57058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labaiagent serve --lab lab.yaml --readonly     # start here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labaiagent serve --lab lab.yaml --dry-run      # then this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labaiagent serve --lab lab.yaml --http \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--auth principals.yaml --tls-cert crt --tls-key key \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--watchdog 15                              # only then live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port: REST /tools/* · /openapi.json · POST /mcp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/events (SSE) · / (operator dashboard) · /metrics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812280" y="3977640"/>
            <a:ext cx="4800600" cy="2286000"/>
          </a:xfrm>
          <a:prstGeom prst="roundRect">
            <a:avLst>
              <a:gd name="adj" fmla="val 2800"/>
            </a:avLst>
          </a:prstGeom>
          <a:solidFill>
            <a:srgbClr val="0B1420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76872" y="405079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embed it in Python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6976872" y="4306824"/>
            <a:ext cx="44714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labaiagent import LabSession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LabSession.from_config("lab.yaml")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s.connect_all()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s.read("cycler", "block_temperature")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s.write("cycler", "block_temperature",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value=95)   # checked, then actuated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s.run("lh", "transfer", source_well="A1",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dest_well="B1", volume=50.0)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fail-closed layers: model to motor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layer answers 'no' on ambiguity. A refused action is the most important audit record we write.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LabAIAgent · technical briefing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371600"/>
            <a:ext cx="6492240" cy="658368"/>
          </a:xfrm>
          <a:prstGeom prst="roundRect">
            <a:avLst>
              <a:gd name="adj" fmla="val 9722"/>
            </a:avLst>
          </a:prstGeom>
          <a:solidFill>
            <a:srgbClr val="2A1620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1527048"/>
            <a:ext cx="347472" cy="347472"/>
          </a:xfrm>
          <a:prstGeom prst="ellipse">
            <a:avLst/>
          </a:prstGeom>
          <a:solidFill>
            <a:srgbClr val="FF5C5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9808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61872" y="137160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E-stop latch  </a:t>
            </a:r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halts everything; only a named human resets; devices re-self-test before returning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2121408"/>
            <a:ext cx="6492240" cy="658368"/>
          </a:xfrm>
          <a:prstGeom prst="roundRect">
            <a:avLst>
              <a:gd name="adj" fmla="val 9722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2276856"/>
            <a:ext cx="347472" cy="347472"/>
          </a:xfrm>
          <a:prstGeom prst="ellipse">
            <a:avLst/>
          </a:prstGeom>
          <a:solidFill>
            <a:srgbClr val="2EE6A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49808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61872" y="2121408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gate  </a:t>
            </a:r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actuation on BUSY / ERROR / quarantined / disconnected instruments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2871216"/>
            <a:ext cx="6492240" cy="658368"/>
          </a:xfrm>
          <a:prstGeom prst="roundRect">
            <a:avLst>
              <a:gd name="adj" fmla="val 9722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" y="3026664"/>
            <a:ext cx="347472" cy="347472"/>
          </a:xfrm>
          <a:prstGeom prst="ellipse">
            <a:avLst/>
          </a:prstGeom>
          <a:solidFill>
            <a:srgbClr val="2EE6A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49808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261872" y="2871216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limits  </a:t>
            </a:r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unit-aware ranges declared by the driver; config may only NARROW them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66928" y="3621024"/>
            <a:ext cx="6492240" cy="658368"/>
          </a:xfrm>
          <a:prstGeom prst="roundRect">
            <a:avLst>
              <a:gd name="adj" fmla="val 9722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9808" y="3776472"/>
            <a:ext cx="347472" cy="347472"/>
          </a:xfrm>
          <a:prstGeom prst="ellipse">
            <a:avLst/>
          </a:prstGeom>
          <a:solidFill>
            <a:srgbClr val="2EE6A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49808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61872" y="362102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Interlocks  </a:t>
            </a:r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 closed, plate present, destination free, centrifuge balanced — fail closed if unknown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66928" y="4370832"/>
            <a:ext cx="6492240" cy="658368"/>
          </a:xfrm>
          <a:prstGeom prst="roundRect">
            <a:avLst>
              <a:gd name="adj" fmla="val 9722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9808" y="4526280"/>
            <a:ext cx="347472" cy="347472"/>
          </a:xfrm>
          <a:prstGeom prst="ellipse">
            <a:avLst/>
          </a:prstGeom>
          <a:solidFill>
            <a:srgbClr val="2EE6A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49808" y="4498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261872" y="437083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Per-actor ceilings &amp; rate limits  </a:t>
            </a:r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identity has an autonomy ceiling and call budget, enforced in-engine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66928" y="5120640"/>
            <a:ext cx="6492240" cy="658368"/>
          </a:xfrm>
          <a:prstGeom prst="roundRect">
            <a:avLst>
              <a:gd name="adj" fmla="val 9722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9808" y="5276088"/>
            <a:ext cx="347472" cy="347472"/>
          </a:xfrm>
          <a:prstGeom prst="ellipse">
            <a:avLst/>
          </a:prstGeom>
          <a:solidFill>
            <a:srgbClr val="2EE6A8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49808" y="5248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261872" y="51206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tokens  </a:t>
            </a:r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HIGH/CRITICAL actions need a scoped, expiring, single-use human approval (e-signed)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7315200" y="1371600"/>
            <a:ext cx="4297680" cy="2468880"/>
          </a:xfrm>
          <a:prstGeom prst="roundRect">
            <a:avLst>
              <a:gd name="adj" fmla="val 2593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43800" y="1600200"/>
            <a:ext cx="457200" cy="45720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4384" y="1700784"/>
            <a:ext cx="256032" cy="25603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8183880" y="16276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per liquid movement — on real hardware</a:t>
            </a:r>
            <a:endParaRPr lang="en-US" sz="1250" dirty="0"/>
          </a:p>
        </p:txBody>
      </p:sp>
      <p:sp>
        <p:nvSpPr>
          <p:cNvPr id="35" name="Text 31"/>
          <p:cNvSpPr txBox="1"/>
          <p:nvPr/>
        </p:nvSpPr>
        <p:spPr>
          <a:xfrm>
            <a:off x="7543800" y="2212848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Opentrons driver speaks the robot-server's live atomic-command API: load_pipette → pick_up_tip → aspirate → dispense. Volume limits, interlocks, rate limits, approvals and audit apply to every single aspirate — not to an opaque protocol upload.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315200" y="4023360"/>
            <a:ext cx="4297680" cy="1828800"/>
          </a:xfrm>
          <a:prstGeom prst="roundRect">
            <a:avLst>
              <a:gd name="adj" fmla="val 3500"/>
            </a:avLst>
          </a:prstGeom>
          <a:solidFill>
            <a:srgbClr val="2A1620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543800" y="4224528"/>
            <a:ext cx="457200" cy="457200"/>
          </a:xfrm>
          <a:prstGeom prst="ellipse">
            <a:avLst/>
          </a:prstGeom>
          <a:solidFill>
            <a:srgbClr val="FF5C5C"/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4" y="4325112"/>
            <a:ext cx="256032" cy="256032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8183880" y="42611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Retry-safe by construction</a:t>
            </a:r>
            <a:endParaRPr lang="en-US" sz="1250" dirty="0"/>
          </a:p>
        </p:txBody>
      </p:sp>
      <p:sp>
        <p:nvSpPr>
          <p:cNvPr id="40" name="Text 35"/>
          <p:cNvSpPr txBox="1"/>
          <p:nvPr/>
        </p:nvSpPr>
        <p:spPr>
          <a:xfrm>
            <a:off x="7543800" y="468172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 physical command is enqueued, nothing retryable can escape — a transient blip can never re-run an aspirate. Adversarially reviewed and regression-tested (REVIEW.md 4.2).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wire to bench, defense in depth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Networked lab control is treated as what it is — an attack surface in front of moving hardware.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LabAIAgent · technical briefing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444752"/>
            <a:ext cx="457200" cy="45720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4533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37160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≥ 1.2 native; refuses to serve unauthenticated off loopback — that is an incident, not a configuration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66928" y="2231136"/>
            <a:ext cx="457200" cy="45720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33172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15798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 hashed at rest, constant-time compare; per-IP brute-force lockout (429 BEFORE any comparison); 4 roles: observer → operator → approver → admin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66928" y="3017520"/>
            <a:ext cx="457200" cy="45720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11810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2944368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E-signatures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per-person PBKDF2 passwords (200k iterations), re-entered at each approval signing — the key authenticates the connection, the password authenticates the PERSON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66928" y="3803904"/>
            <a:ext cx="457200" cy="45720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904488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34440" y="3730752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authenticity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HMAC-SHA256 keyed hash chain: whole-file rewrite without the key is detectable; a broken chain refuses to be extended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66928" y="4590288"/>
            <a:ext cx="457200" cy="45720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690872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234440" y="4517136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HTTP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MiB body cap · Transfer-Encoding rejected (411, anti-smuggling) · nosniff / no-store / no-referrer · SSE subscriber cap · 500-step protocol cap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566928" y="5376672"/>
            <a:ext cx="457200" cy="45720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477256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34440" y="530352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oversight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pre-execution reviewer (rule-based or foundation-model, FAILS CLOSED) · refusal-streak auto-suspension · human-only reinstatement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9052560" y="1371600"/>
            <a:ext cx="2560320" cy="4572000"/>
          </a:xfrm>
          <a:prstGeom prst="roundRect">
            <a:avLst>
              <a:gd name="adj" fmla="val 250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9253728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like a target</a:t>
            </a:r>
            <a:endParaRPr 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9253728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Text 19"/>
          <p:cNvSpPr txBox="1"/>
          <p:nvPr/>
        </p:nvSpPr>
        <p:spPr>
          <a:xfrm>
            <a:off x="9253728" y="24505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review rounds, published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9253728" y="2926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3000" dirty="0"/>
          </a:p>
        </p:txBody>
      </p:sp>
      <p:sp>
        <p:nvSpPr>
          <p:cNvPr id="30" name="Text 21"/>
          <p:cNvSpPr txBox="1"/>
          <p:nvPr/>
        </p:nvSpPr>
        <p:spPr>
          <a:xfrm>
            <a:off x="9253728" y="341071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findings, all fixed</a:t>
            </a:r>
            <a:endParaRPr lang="en-US" sz="1000" dirty="0"/>
          </a:p>
        </p:txBody>
      </p:sp>
      <p:sp>
        <p:nvSpPr>
          <p:cNvPr id="31" name="Text 22"/>
          <p:cNvSpPr txBox="1"/>
          <p:nvPr/>
        </p:nvSpPr>
        <p:spPr>
          <a:xfrm>
            <a:off x="9253728" y="3886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</a:t>
            </a:r>
            <a:endParaRPr lang="en-US" sz="3000" dirty="0"/>
          </a:p>
        </p:txBody>
      </p:sp>
      <p:sp>
        <p:nvSpPr>
          <p:cNvPr id="32" name="Text 23"/>
          <p:cNvSpPr txBox="1"/>
          <p:nvPr/>
        </p:nvSpPr>
        <p:spPr>
          <a:xfrm>
            <a:off x="9253728" y="43708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finding-to-regression-test, enforced</a:t>
            </a:r>
            <a:endParaRPr lang="en-US" sz="1000" dirty="0"/>
          </a:p>
        </p:txBody>
      </p:sp>
      <p:sp>
        <p:nvSpPr>
          <p:cNvPr id="33" name="Text 24"/>
          <p:cNvSpPr txBox="1"/>
          <p:nvPr/>
        </p:nvSpPr>
        <p:spPr>
          <a:xfrm>
            <a:off x="9253728" y="4846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3000" dirty="0"/>
          </a:p>
        </p:txBody>
      </p:sp>
      <p:sp>
        <p:nvSpPr>
          <p:cNvPr id="34" name="Text 25"/>
          <p:cNvSpPr txBox="1"/>
          <p:nvPr/>
        </p:nvSpPr>
        <p:spPr>
          <a:xfrm>
            <a:off x="9253728" y="53309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 examples per property test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fit for a reviewer — or a regulator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integrity-protected artifacts: the append-only audit chain (ground truth) and signed run records (the portable extract).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LabAIAgent · technical briefing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417320"/>
            <a:ext cx="5577840" cy="2377440"/>
          </a:xfrm>
          <a:prstGeom prst="roundRect">
            <a:avLst>
              <a:gd name="adj" fmla="val 2692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" y="15727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Hash-chained audit log (JSONL, fsync'd)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205740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78408" y="212140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 1
</a:t>
            </a:r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prev_hash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HMAC-SHA256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0" y="2514600"/>
            <a:ext cx="365760" cy="0"/>
          </a:xfrm>
          <a:prstGeom prst="line">
            <a:avLst/>
          </a:prstGeom>
          <a:noFill/>
          <a:ln w="25400">
            <a:solidFill>
              <a:srgbClr val="2EE6A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651760" y="205740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61488" y="212140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 2
</a:t>
            </a:r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prev_hash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HMAC-SHA256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69080" y="2514600"/>
            <a:ext cx="365760" cy="0"/>
          </a:xfrm>
          <a:prstGeom prst="line">
            <a:avLst/>
          </a:prstGeom>
          <a:noFill/>
          <a:ln w="25400">
            <a:solidFill>
              <a:srgbClr val="2EE6A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434840" y="205740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44568" y="212140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 3
</a:t>
            </a:r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prev_hash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HMAC-SHA256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" y="31089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invoke, result, REFUSAL, error, approval, e-stop. Edit or delete anything → every later link fails verification. Refusals are recorded on purpose: they are the proof the controls were live.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0" y="1417320"/>
            <a:ext cx="5212080" cy="4434840"/>
          </a:xfrm>
          <a:prstGeom prst="roundRect">
            <a:avLst>
              <a:gd name="adj" fmla="val 1443"/>
            </a:avLst>
          </a:prstGeom>
          <a:solidFill>
            <a:srgbClr val="0B1420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65392" y="1490472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run record — written for every protocol run (success, failure, or cancel)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565392" y="1746504"/>
            <a:ext cx="488289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"body":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"record_id": "e2e7077ad080493e",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"status": "done",  "actor": "agent:claude",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"software": {"labaiagent": "1.4.1", ...},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"devices": [{"id": "lh", "driver_version": ...}],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"protocol": {  # AS EXECUTED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"steps": [args, results, errors, ms] },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"audit_slice": { "n_records": 5,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"records": [ ...hashes intact... ] } },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"integrity":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"sha256": "…",  "signature": "HMAC-SHA256…" }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run_records verify → "checksum and signature verify"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6928" y="40690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6928" y="4055364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Attributable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755648" y="406908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755648" y="4055364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Legible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670048" y="40690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670048" y="4055364"/>
            <a:ext cx="1481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Contemporaneous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242816" y="40690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242816" y="4055364"/>
            <a:ext cx="868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202936" y="406908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202936" y="405536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66928" y="4498848"/>
            <a:ext cx="3383280" cy="310896"/>
          </a:xfrm>
          <a:prstGeom prst="roundRect">
            <a:avLst>
              <a:gd name="adj" fmla="val 50000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66928" y="4485132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Complete · Consistent · Enduring · Available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50292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ALCOA+ by construction — the substrate 21 CFR Part 11 expects (mapping: docs/COMPLIANCE.md).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557784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Reproducibility, operationalised: a colleague reconstructs the run from one file — no database join, no log archaeology.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Remembers. Recovers. Humans stay in charge.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memory (SQLite beside the audit log): task board, incidents, quarantines, checkpoints — all survive restarts.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LabAIAgent · technical briefing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371600"/>
            <a:ext cx="3520440" cy="1024128"/>
          </a:xfrm>
          <a:prstGeom prst="roundRect">
            <a:avLst>
              <a:gd name="adj" fmla="val 625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1682496"/>
            <a:ext cx="402336" cy="402336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746" y="1771010"/>
            <a:ext cx="225308" cy="2253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142646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records tasks
</a:t>
            </a:r>
            <a:pPr indent="0" marL="0">
              <a:lnSpc>
                <a:spcPct val="103000"/>
              </a:lnSpc>
              <a:buNone/>
            </a:pPr>
            <a:r>
              <a:rPr lang="en-US" sz="92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+ optional protocol; approver-only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66928" y="2496312"/>
            <a:ext cx="3520440" cy="1024128"/>
          </a:xfrm>
          <a:prstGeom prst="roundRect">
            <a:avLst>
              <a:gd name="adj" fmla="val 625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13232" y="2807208"/>
            <a:ext cx="402336" cy="402336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46" y="2895722"/>
            <a:ext cx="225308" cy="2253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255117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executes
</a:t>
            </a:r>
            <a:pPr indent="0" marL="0">
              <a:lnSpc>
                <a:spcPct val="103000"/>
              </a:lnSpc>
              <a:buNone/>
            </a:pPr>
            <a:r>
              <a:rPr lang="en-US" sz="92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run_protocol(task_id) checkpoints every step to disk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66928" y="3621024"/>
            <a:ext cx="3520440" cy="1024128"/>
          </a:xfrm>
          <a:prstGeom prst="roundRect">
            <a:avLst>
              <a:gd name="adj" fmla="val 6250"/>
            </a:avLst>
          </a:prstGeom>
          <a:solidFill>
            <a:srgbClr val="2A1620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13232" y="3931920"/>
            <a:ext cx="402336" cy="402336"/>
          </a:xfrm>
          <a:prstGeom prst="ellipse">
            <a:avLst/>
          </a:prstGeom>
          <a:solidFill>
            <a:srgbClr val="FF5C5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46" y="4020434"/>
            <a:ext cx="225308" cy="2253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67588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
</a:t>
            </a:r>
            <a:pPr indent="0" marL="0">
              <a:lnSpc>
                <a:spcPct val="103000"/>
              </a:lnSpc>
              <a:buNone/>
            </a:pPr>
            <a:r>
              <a:rPr lang="en-US" sz="92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loss mid-run — in-memory state gone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66928" y="4745736"/>
            <a:ext cx="3520440" cy="1024128"/>
          </a:xfrm>
          <a:prstGeom prst="roundRect">
            <a:avLst>
              <a:gd name="adj" fmla="val 625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13232" y="5056632"/>
            <a:ext cx="402336" cy="402336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46" y="5145146"/>
            <a:ext cx="225308" cy="22530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4800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remembers
</a:t>
            </a:r>
            <a:pPr indent="0" marL="0">
              <a:lnSpc>
                <a:spcPct val="103000"/>
              </a:lnSpc>
              <a:buNone/>
            </a:pPr>
            <a:r>
              <a:rPr lang="en-US" sz="92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report: interrupted tasks, open incidents, quarantines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4453128" y="1371600"/>
            <a:ext cx="3520440" cy="1024128"/>
          </a:xfrm>
          <a:prstGeom prst="roundRect">
            <a:avLst>
              <a:gd name="adj" fmla="val 625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599432" y="1682496"/>
            <a:ext cx="402336" cy="402336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946" y="1771010"/>
            <a:ext cx="225308" cy="22530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166360" y="142646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Resume, not restart
</a:t>
            </a:r>
            <a:pPr indent="0" marL="0">
              <a:lnSpc>
                <a:spcPct val="103000"/>
              </a:lnSpc>
              <a:buNone/>
            </a:pPr>
            <a:r>
              <a:rPr lang="en-US" sz="92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resume=true skips completed steps; $context restored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4453128" y="2496312"/>
            <a:ext cx="3520440" cy="1024128"/>
          </a:xfrm>
          <a:prstGeom prst="roundRect">
            <a:avLst>
              <a:gd name="adj" fmla="val 625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99432" y="2807208"/>
            <a:ext cx="402336" cy="402336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7946" y="2895722"/>
            <a:ext cx="225308" cy="22530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166360" y="255117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→ intelligence
</a:t>
            </a:r>
            <a:pPr indent="0" marL="0">
              <a:lnSpc>
                <a:spcPct val="103000"/>
              </a:lnSpc>
              <a:buNone/>
            </a:pPr>
            <a:r>
              <a:rPr lang="en-US" sz="92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PhysicalError ⇒ quarantine + incident + diagnosis from the driver's own notes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4453128" y="3621024"/>
            <a:ext cx="3520440" cy="1024128"/>
          </a:xfrm>
          <a:prstGeom prst="roundRect">
            <a:avLst>
              <a:gd name="adj" fmla="val 625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4599432" y="3931920"/>
            <a:ext cx="402336" cy="402336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7946" y="4020434"/>
            <a:ext cx="225308" cy="22530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166360" y="367588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closes the loop
</a:t>
            </a:r>
            <a:pPr indent="0" marL="0">
              <a:lnSpc>
                <a:spcPct val="103000"/>
              </a:lnSpc>
              <a:buNone/>
            </a:pPr>
            <a:r>
              <a:rPr lang="en-US" sz="92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resolve_incident lifts the quarantine; work continues</a:t>
            </a:r>
            <a:endParaRPr lang="en-US" sz="1150" dirty="0"/>
          </a:p>
        </p:txBody>
      </p:sp>
      <p:sp>
        <p:nvSpPr>
          <p:cNvPr id="35" name="Shape 25"/>
          <p:cNvSpPr/>
          <p:nvPr/>
        </p:nvSpPr>
        <p:spPr>
          <a:xfrm>
            <a:off x="8092440" y="1371600"/>
            <a:ext cx="3520440" cy="4480560"/>
          </a:xfrm>
          <a:prstGeom prst="roundRect">
            <a:avLst>
              <a:gd name="adj" fmla="val 1818"/>
            </a:avLst>
          </a:prstGeom>
          <a:solidFill>
            <a:srgbClr val="0B1420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8257032" y="14447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gets instead of a stack trace</a:t>
            </a:r>
            <a:endParaRPr lang="en-US" sz="950" dirty="0"/>
          </a:p>
        </p:txBody>
      </p:sp>
      <p:sp>
        <p:nvSpPr>
          <p:cNvPr id="37" name="Text 27"/>
          <p:cNvSpPr txBox="1"/>
          <p:nvPr/>
        </p:nvSpPr>
        <p:spPr>
          <a:xfrm>
            <a:off x="8257032" y="1700784"/>
            <a:ext cx="319125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PhysicalError: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well H12 is EMPTY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incident: inc_91ab opened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lh: QUARANTINED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 Do NOT retry the failed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— physical faults do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 clear by repetition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2. Verify the well map vs.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 physical plate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3. Driver notes: tips &lt;10 uL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unreliable; check volumes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resolve: HUMAN ONLY</a:t>
            </a:r>
            <a:endParaRPr lang="en-US" sz="1050" dirty="0"/>
          </a:p>
        </p:txBody>
      </p:sp>
      <p:sp>
        <p:nvSpPr>
          <p:cNvPr id="38" name="Text 28"/>
          <p:cNvSpPr txBox="1"/>
          <p:nvPr/>
        </p:nvSpPr>
        <p:spPr>
          <a:xfrm>
            <a:off x="566928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Overnight autonomy needs exactly this: nothing forgotten, nothing blindly retried, nothing un-quarantined without a named human.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be operated, not just demoed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console, Prometheus metrics, heartbeat watchdog, and opt-in parallel execution — the unglamorous layer that makes it deployable.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LabAIAgent · technical briefing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371600"/>
            <a:ext cx="6400800" cy="4480560"/>
          </a:xfrm>
          <a:prstGeom prst="roundRect">
            <a:avLst>
              <a:gd name="adj" fmla="val 1429"/>
            </a:avLst>
          </a:prstGeom>
          <a:solidFill>
            <a:srgbClr val="0B1420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4264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pPr indent="0" marL="0">
              <a:buNone/>
            </a:pPr>
            <a:r>
              <a:rPr lang="en-US" sz="11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AIAgent — operator console   </a:t>
            </a:r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   (self-contained HTML, zero CDN)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1828800"/>
            <a:ext cx="1097280" cy="777240"/>
          </a:xfrm>
          <a:prstGeom prst="roundRect">
            <a:avLst>
              <a:gd name="adj" fmla="val 8235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18836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984248" y="1828800"/>
            <a:ext cx="1097280" cy="777240"/>
          </a:xfrm>
          <a:prstGeom prst="roundRect">
            <a:avLst>
              <a:gd name="adj" fmla="val 8235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984248" y="18836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984248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191256" y="1828800"/>
            <a:ext cx="1097280" cy="777240"/>
          </a:xfrm>
          <a:prstGeom prst="roundRect">
            <a:avLst>
              <a:gd name="adj" fmla="val 8235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91256" y="18836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3191256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398264" y="1828800"/>
            <a:ext cx="1097280" cy="777240"/>
          </a:xfrm>
          <a:prstGeom prst="roundRect">
            <a:avLst>
              <a:gd name="adj" fmla="val 8235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98264" y="18836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398264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605272" y="1828800"/>
            <a:ext cx="1097280" cy="777240"/>
          </a:xfrm>
          <a:prstGeom prst="roundRect">
            <a:avLst>
              <a:gd name="adj" fmla="val 8235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605272" y="18836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05272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e-stop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77240" y="2788920"/>
            <a:ext cx="4663440" cy="475488"/>
          </a:xfrm>
          <a:prstGeom prst="roundRect">
            <a:avLst>
              <a:gd name="adj" fmla="val 13462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60120" y="27889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lh — Opentrons Flex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3977640" y="27889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77240" y="3355848"/>
            <a:ext cx="4663440" cy="475488"/>
          </a:xfrm>
          <a:prstGeom prst="roundRect">
            <a:avLst>
              <a:gd name="adj" fmla="val 13462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60120" y="335584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reader — SpectraStar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3977640" y="33558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77240" y="3922776"/>
            <a:ext cx="4663440" cy="475488"/>
          </a:xfrm>
          <a:prstGeom prst="roundRect">
            <a:avLst>
              <a:gd name="adj" fmla="val 13462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60120" y="392277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cycler — ProFlex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3977640" y="39227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77240" y="4489704"/>
            <a:ext cx="4663440" cy="475488"/>
          </a:xfrm>
          <a:prstGeom prst="roundRect">
            <a:avLst>
              <a:gd name="adj" fmla="val 13462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60120" y="448970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pump_2 — Acme P-200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3977640" y="448970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· quarantined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577840" y="2788920"/>
            <a:ext cx="1170432" cy="822960"/>
          </a:xfrm>
          <a:prstGeom prst="roundRect">
            <a:avLst>
              <a:gd name="adj" fmla="val 8889"/>
            </a:avLst>
          </a:prstGeom>
          <a:solidFill>
            <a:srgbClr val="3D1113"/>
          </a:solidFill>
          <a:ln w="19050">
            <a:solidFill>
              <a:srgbClr val="FF5C5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577840" y="2788920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E-STOP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777240" y="51663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events (SSE): job.progress · device.heartbeat_lost · approval.issued · record.written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269480" y="1371600"/>
            <a:ext cx="4343400" cy="1417320"/>
          </a:xfrm>
          <a:prstGeom prst="roundRect">
            <a:avLst>
              <a:gd name="adj" fmla="val 4516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452360" y="1536192"/>
            <a:ext cx="420624" cy="420624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4897" y="1628729"/>
            <a:ext cx="235549" cy="235549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8028432" y="14996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/metrics</a:t>
            </a:r>
            <a:endParaRPr lang="en-US" sz="1200" dirty="0"/>
          </a:p>
        </p:txBody>
      </p:sp>
      <p:sp>
        <p:nvSpPr>
          <p:cNvPr id="44" name="Text 40"/>
          <p:cNvSpPr txBox="1"/>
          <p:nvPr/>
        </p:nvSpPr>
        <p:spPr>
          <a:xfrm>
            <a:off x="7461504" y="187452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text format: devices by state, e-stop latch, jobs, tasks, incidents, quarantines, audit head — for the Grafana/Alertmanager stack you already run</a:t>
            </a:r>
            <a:endParaRPr lang="en-US" sz="980" dirty="0"/>
          </a:p>
        </p:txBody>
      </p:sp>
      <p:sp>
        <p:nvSpPr>
          <p:cNvPr id="45" name="Shape 41"/>
          <p:cNvSpPr/>
          <p:nvPr/>
        </p:nvSpPr>
        <p:spPr>
          <a:xfrm>
            <a:off x="7269480" y="2926080"/>
            <a:ext cx="4343400" cy="1417320"/>
          </a:xfrm>
          <a:prstGeom prst="roundRect">
            <a:avLst>
              <a:gd name="adj" fmla="val 4516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7452360" y="3090672"/>
            <a:ext cx="420624" cy="420624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897" y="3183209"/>
            <a:ext cx="235549" cy="235549"/>
          </a:xfrm>
          <a:prstGeom prst="rect">
            <a:avLst/>
          </a:prstGeom>
        </p:spPr>
      </p:pic>
      <p:sp>
        <p:nvSpPr>
          <p:cNvPr id="48" name="Text 43"/>
          <p:cNvSpPr txBox="1"/>
          <p:nvPr/>
        </p:nvSpPr>
        <p:spPr>
          <a:xfrm>
            <a:off x="8028432" y="30540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--watchdog 15</a:t>
            </a:r>
            <a:endParaRPr lang="en-US" sz="1200" dirty="0"/>
          </a:p>
        </p:txBody>
      </p:sp>
      <p:sp>
        <p:nvSpPr>
          <p:cNvPr id="49" name="Text 44"/>
          <p:cNvSpPr txBox="1"/>
          <p:nvPr/>
        </p:nvSpPr>
        <p:spPr>
          <a:xfrm>
            <a:off x="7461504" y="342900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probes each idle instrument's own self-test; 3 strikes → ERROR (actuation refused) + event; auto-recovers ONLY what it tripped; never probes mid-actuation, never overrides quarantine</a:t>
            </a:r>
            <a:endParaRPr lang="en-US" sz="980" dirty="0"/>
          </a:p>
        </p:txBody>
      </p:sp>
      <p:sp>
        <p:nvSpPr>
          <p:cNvPr id="50" name="Shape 45"/>
          <p:cNvSpPr/>
          <p:nvPr/>
        </p:nvSpPr>
        <p:spPr>
          <a:xfrm>
            <a:off x="7269480" y="4480560"/>
            <a:ext cx="4343400" cy="1417320"/>
          </a:xfrm>
          <a:prstGeom prst="roundRect">
            <a:avLst>
              <a:gd name="adj" fmla="val 4516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7452360" y="4645152"/>
            <a:ext cx="420624" cy="420624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897" y="4737689"/>
            <a:ext cx="235549" cy="235549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8028432" y="46085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parallel=true</a:t>
            </a:r>
            <a:endParaRPr lang="en-US" sz="1200" dirty="0"/>
          </a:p>
        </p:txBody>
      </p:sp>
      <p:sp>
        <p:nvSpPr>
          <p:cNvPr id="54" name="Text 48"/>
          <p:cNvSpPr txBox="1"/>
          <p:nvPr/>
        </p:nvSpPr>
        <p:spPr>
          <a:xfrm>
            <a:off x="7461504" y="49834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waves grouped BY DEVICE: instruments overlap, same-device order stays strict, per-call safety unchanged; abort/cancel honoured inside every lane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defensible compliance story — with the gaps stated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ship the technical controls and the paperwork skeleton; your QA executes and owns the validation. No compliance theater.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LabAIAgent · technical briefing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371600"/>
            <a:ext cx="5943600" cy="4572000"/>
          </a:xfrm>
          <a:prstGeom prst="roundRect">
            <a:avLst>
              <a:gd name="adj" fmla="val 140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" y="15179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technical controls → 21 CFR Part 11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95528" y="1938528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§11.10(a)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103120" y="1938528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— 232 automated tests + executable IQ/OQ/PQ template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95528" y="2596896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§11.10(c,e)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2103120" y="2596896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protected, time-stamped, append-only audit trail (keyed chain)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95528" y="325526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§11.10(d,g)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2103120" y="3255264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control: hashed keys, lockout, 4-role authority checks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95528" y="3913632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§11.10(f,h)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2103120" y="3913632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sequencing (safety engine) + device checks (self-test, watchdog, verified writes)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95528" y="457200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§11.50/70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2103120" y="4572000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signatures embedded in the chain — not excisable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95528" y="5230368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§11.200/300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103120" y="5230368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two-component signing: key + per-signing PBKDF2 password; failures audited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766560" y="1371600"/>
            <a:ext cx="4846320" cy="2286000"/>
          </a:xfrm>
          <a:prstGeom prst="roundRect">
            <a:avLst>
              <a:gd name="adj" fmla="val 280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95160" y="15179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QA still owns (we say so)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7022592" y="192024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SOPs, training, signature accountability (§11.10 i–k)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 the validation on YOUR instruments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Key/password lifecycle and record retention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766560" y="3886200"/>
            <a:ext cx="4846320" cy="2057400"/>
          </a:xfrm>
          <a:prstGeom prst="roundRect">
            <a:avLst>
              <a:gd name="adj" fmla="val 3111"/>
            </a:avLst>
          </a:prstGeom>
          <a:solidFill>
            <a:srgbClr val="1D3049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967728" y="4087368"/>
            <a:ext cx="457200" cy="45720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8312" y="4187952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58952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docs/VALIDATION_PLAN.md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6995160" y="4498848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fill-in IQ/OQ/PQ: 7 installation checks, 11 operational checks per instrument (incl. fault injection, kill-and-resume, watchdog unplug), 5 performance checks per assay. The system generates its own evidence — every row cites an audit range or a signed run record.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566928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GAMP 5: category-4 configured product; risk classes (NONE→CRITICAL) are first-class in the framework itself.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rigor you can audit, not admire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in this deck is falsifiable from the repo: run the suite, read the review record, execute the release gates.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LabAIAgent · technical briefing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371600"/>
            <a:ext cx="2697480" cy="1371600"/>
          </a:xfrm>
          <a:prstGeom prst="roundRect">
            <a:avLst>
              <a:gd name="adj" fmla="val 4667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1463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tests, run 3× per release (zero-flake gate)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38144" y="1371600"/>
            <a:ext cx="2697480" cy="1371600"/>
          </a:xfrm>
          <a:prstGeom prst="roundRect">
            <a:avLst>
              <a:gd name="adj" fmla="val 4667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21024" y="1463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3639312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ruff + mypy findings across 58 typed modules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1371600"/>
            <a:ext cx="2697480" cy="1371600"/>
          </a:xfrm>
          <a:prstGeom prst="roundRect">
            <a:avLst>
              <a:gd name="adj" fmla="val 4667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1463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6510528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review rounds, published in REVIEW.md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180576" y="1371600"/>
            <a:ext cx="2697480" cy="1371600"/>
          </a:xfrm>
          <a:prstGeom prst="roundRect">
            <a:avLst>
              <a:gd name="adj" fmla="val 4667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363456" y="1463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9381744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runnable end-to-end examples</a:t>
            </a:r>
            <a:endParaRPr lang="en-US" sz="9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66928" y="301752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6"/>
          <p:cNvSpPr/>
          <p:nvPr/>
        </p:nvSpPr>
        <p:spPr>
          <a:xfrm>
            <a:off x="6263640" y="3017520"/>
            <a:ext cx="5349240" cy="2834640"/>
          </a:xfrm>
          <a:prstGeom prst="roundRect">
            <a:avLst>
              <a:gd name="adj" fmla="val 2258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92240" y="31638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like a product, not a repo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6510528" y="3566160"/>
            <a:ext cx="4892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Property-based testing (Hypothesis) on the safety validator, unit algebra, and audit-chain mutation detection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accepted review finding ships with a named regression test — 1:1, enforced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G1–G7 release gates (docs/RELEASE_PROCESS.md): triple-run flake gate, clean-venv install, security regression, review-debt zero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Safety-path changes need two reviews — one adversarial, documented (CONTRIBUTING.md)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SemVer where safety may tighten in a MINOR but never loosens outside a MAJOR (SUPPORT.md)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N+1: an afternoon, not a quarter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instrument once, declaratively. Validation, manifest, agent reference, and every framework schema are derived.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LabAIAgent · technical briefing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371600"/>
            <a:ext cx="6675120" cy="4572000"/>
          </a:xfrm>
          <a:prstGeom prst="roundRect">
            <a:avLst>
              <a:gd name="adj" fmla="val 1400"/>
            </a:avLst>
          </a:prstGeom>
          <a:solidFill>
            <a:srgbClr val="0B1420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44475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driver — the declaration IS the integration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1700784"/>
            <a:ext cx="634593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AcmePump(Device):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vendor, model, category = "Acme", "P-200", "pump"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notes = "Silently rejects setpoints while priming —"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"the driver drains SYST:ERR? to catch it."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_connect(self):  self.link = open_serial(...)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_halt(self):     self.link.write("STOP")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@read("flow_rate", unit="uL/s")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get_flow(self) -&gt; float: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@write("flow_rate", risk=Risk.MEDIUM,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params=[Param("value", float, "uL/s",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limits=Range(0, 200, "uL/s"))])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set_flow(self, value: float):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that's the whole integration. Everything else is derived.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98080" y="1371600"/>
            <a:ext cx="4114800" cy="1444752"/>
          </a:xfrm>
          <a:prstGeom prst="roundRect">
            <a:avLst>
              <a:gd name="adj" fmla="val 443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0" y="1536192"/>
            <a:ext cx="420624" cy="420624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3497" y="1628729"/>
            <a:ext cx="235549" cy="23554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247888" y="151790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Scaffolded, then verified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699248" y="1874520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labaiagent scaffold acme.p200 emits the driver + test skeleton; labaiagent verify runs a strict conformance suite (halt coverage, limit sanity, read purity) before an agent ever sees it.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7498080" y="2944368"/>
            <a:ext cx="4114800" cy="1444752"/>
          </a:xfrm>
          <a:prstGeom prst="roundRect">
            <a:avLst>
              <a:gd name="adj" fmla="val 443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680960" y="3108960"/>
            <a:ext cx="420624" cy="420624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497" y="3201497"/>
            <a:ext cx="235549" cy="23554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47888" y="30906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API? Still integrable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699248" y="3447288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watched-folder transport turns 'vendor software drops a CSV' into a synchronous, audited read — the most common awkward case in an installed lab.</a:t>
            </a:r>
            <a:endParaRPr lang="en-US" sz="960" dirty="0"/>
          </a:p>
        </p:txBody>
      </p:sp>
      <p:sp>
        <p:nvSpPr>
          <p:cNvPr id="20" name="Shape 15"/>
          <p:cNvSpPr/>
          <p:nvPr/>
        </p:nvSpPr>
        <p:spPr>
          <a:xfrm>
            <a:off x="7498080" y="4517136"/>
            <a:ext cx="4114800" cy="1444752"/>
          </a:xfrm>
          <a:prstGeom prst="roundRect">
            <a:avLst>
              <a:gd name="adj" fmla="val 443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680960" y="4681728"/>
            <a:ext cx="420624" cy="420624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497" y="4774265"/>
            <a:ext cx="235549" cy="23554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247888" y="46634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Site-specific limits without forks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7699248" y="5020056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YAML narrows this instance's limits (your 80 °C bath vs. the 150 °C one downstairs). Config can only TIGHTEN — a widened limit is refused at startup.</a:t>
            </a:r>
            <a:endParaRPr lang="en-US" sz="9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stands — and the pilot that closes the gap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not claim what we have not measured. Here is exactly what is proven, what is not, and the 4-week path between them.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LabAIAgent · technical briefing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371600"/>
            <a:ext cx="5394960" cy="2331720"/>
          </a:xfrm>
          <a:prstGeom prst="roundRect">
            <a:avLst>
              <a:gd name="adj" fmla="val 2745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" y="14996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today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1883664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Framework, safety engine, gateway, recovery: 232 tests, live-socket HTTP, crash-and-resume proven in CI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Opentrons + SCPI wire contracts verified against fakes speaking the published protocols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published adversarial review rounds; every finding fixed + regression-tested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66928" y="3840480"/>
            <a:ext cx="5394960" cy="2103120"/>
          </a:xfrm>
          <a:prstGeom prst="roundRect">
            <a:avLst>
              <a:gd name="adj" fmla="val 3043"/>
            </a:avLst>
          </a:prstGeom>
          <a:solidFill>
            <a:srgbClr val="2A1620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" y="39684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limits (also in writing, in the repo)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352544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run against physical instruments — the IQ/OQ/PQ exists precisely to close this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software e-stop is a layer ABOVE hardware E-stops and interlocked enclosures, never a substitute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11 compliance is a property of your validated deployment, not of any software alone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263640" y="1371600"/>
            <a:ext cx="5349240" cy="4572000"/>
          </a:xfrm>
          <a:prstGeom prst="roundRect">
            <a:avLst>
              <a:gd name="adj" fmla="val 1400"/>
            </a:avLst>
          </a:prstGeom>
          <a:solidFill>
            <a:srgbClr val="16243A"/>
          </a:solidFill>
          <a:ln w="9525">
            <a:solidFill>
              <a:srgbClr val="2A3C5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15179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4-week pilot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92240" y="2048256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2EE6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92240" y="203911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1993392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+ IQ on your workstation; connect 2 instruments (one liquid handler, one reader); --readonly with your agents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6492240" y="301752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2EE6A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92240" y="300837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2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0" y="2962656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OQ: every capability exercised live, out-of-range refusals, e-stop drill, fault injection, kill-and-resume, watchdog unplug</a:t>
            </a:r>
            <a:endParaRPr lang="en-US" sz="1030" dirty="0"/>
          </a:p>
        </p:txBody>
      </p:sp>
      <p:sp>
        <p:nvSpPr>
          <p:cNvPr id="21" name="Shape 18"/>
          <p:cNvSpPr/>
          <p:nvPr/>
        </p:nvSpPr>
        <p:spPr>
          <a:xfrm>
            <a:off x="6492240" y="3986784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2EE6A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92240" y="39776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3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0" y="3931920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PQ: your real assay ×3, two operators, gravimetric volume check; every run leaves a signed record</a:t>
            </a:r>
            <a:endParaRPr lang="en-US" sz="1030" dirty="0"/>
          </a:p>
        </p:txBody>
      </p:sp>
      <p:sp>
        <p:nvSpPr>
          <p:cNvPr id="24" name="Shape 21"/>
          <p:cNvSpPr/>
          <p:nvPr/>
        </p:nvSpPr>
        <p:spPr>
          <a:xfrm>
            <a:off x="6492240" y="4956048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2EE6A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92240" y="494690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4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0" y="4901184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review: executed IQ/OQ/PQ + audit chains + run records = your compliance file, our validation dataset, one shared methods paper</a:t>
            </a:r>
            <a:endParaRPr lang="en-US" sz="103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60533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</a:t>
            </a:r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instruments, one real assay, four weeks. Everything you need is already in the repo.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2026-08-29T21:28:52Z</dcterms:created>
  <dcterms:modified xsi:type="dcterms:W3CDTF">2026-08-29T21:28:52Z</dcterms:modified>
</cp:coreProperties>
</file>